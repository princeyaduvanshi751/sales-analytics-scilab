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3" r:id="rId7"/>
    <p:sldId id="268" r:id="rId8"/>
    <p:sldId id="269" r:id="rId9"/>
    <p:sldId id="270" r:id="rId10"/>
    <p:sldId id="271" r:id="rId11"/>
    <p:sldId id="272" r:id="rId1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Raleway" pitchFamily="2" charset="0"/>
      <p:regular r:id="rId17"/>
      <p:bold r:id="rId18"/>
      <p:italic r:id="rId19"/>
      <p:boldItalic r:id="rId20"/>
    </p:embeddedFont>
    <p:embeddedFont>
      <p:font typeface="Raleway ExtraBold" pitchFamily="2" charset="0"/>
      <p:bold r:id="rId21"/>
      <p:boldItalic r:id="rId22"/>
    </p:embeddedFont>
    <p:embeddedFont>
      <p:font typeface="Raleway Medium" pitchFamily="2" charset="0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897120"/>
            <a:ext cx="665136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666360"/>
            <a:ext cx="6922800" cy="75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" name="Google Shape;129;p17"/>
          <p:cNvGrpSpPr/>
          <p:nvPr/>
        </p:nvGrpSpPr>
        <p:grpSpPr>
          <a:xfrm>
            <a:off x="0" y="0"/>
            <a:ext cx="9143640" cy="481320"/>
            <a:chOff x="0" y="0"/>
            <a:chExt cx="9143640" cy="481320"/>
          </a:xfrm>
        </p:grpSpPr>
        <p:sp>
          <p:nvSpPr>
            <p:cNvPr id="6" name="Google Shape;130;p17"/>
            <p:cNvSpPr/>
            <p:nvPr/>
          </p:nvSpPr>
          <p:spPr>
            <a:xfrm>
              <a:off x="0" y="32112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31;p17"/>
            <p:cNvSpPr/>
            <p:nvPr/>
          </p:nvSpPr>
          <p:spPr>
            <a:xfrm>
              <a:off x="0" y="160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32;p17"/>
            <p:cNvSpPr/>
            <p:nvPr/>
          </p:nvSpPr>
          <p:spPr>
            <a:xfrm>
              <a:off x="0" y="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" name="Google Shape;133;p17"/>
          <p:cNvSpPr/>
          <p:nvPr/>
        </p:nvSpPr>
        <p:spPr>
          <a:xfrm>
            <a:off x="713160" y="47642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858200" y="1948680"/>
            <a:ext cx="3918600" cy="194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4963320" y="924840"/>
            <a:ext cx="953640" cy="95364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u="none" strike="noStrike">
                <a:solidFill>
                  <a:schemeClr val="lt1"/>
                </a:solidFill>
                <a:effectLst/>
                <a:uFillTx/>
                <a:latin typeface="Raleway ExtraBold"/>
                <a:ea typeface="Raleway ExtraBold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322280" y="539640"/>
            <a:ext cx="276012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4" name="Google Shape;15;p3"/>
          <p:cNvGrpSpPr/>
          <p:nvPr/>
        </p:nvGrpSpPr>
        <p:grpSpPr>
          <a:xfrm>
            <a:off x="360" y="2520"/>
            <a:ext cx="713160" cy="5138640"/>
            <a:chOff x="360" y="2520"/>
            <a:chExt cx="713160" cy="5138640"/>
          </a:xfrm>
        </p:grpSpPr>
        <p:sp>
          <p:nvSpPr>
            <p:cNvPr id="15" name="Google Shape;16;p3"/>
            <p:cNvSpPr/>
            <p:nvPr/>
          </p:nvSpPr>
          <p:spPr>
            <a:xfrm>
              <a:off x="360" y="3467160"/>
              <a:ext cx="71280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17;p3"/>
            <p:cNvSpPr/>
            <p:nvPr/>
          </p:nvSpPr>
          <p:spPr>
            <a:xfrm>
              <a:off x="360" y="4284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18;p3"/>
            <p:cNvSpPr/>
            <p:nvPr/>
          </p:nvSpPr>
          <p:spPr>
            <a:xfrm>
              <a:off x="360" y="2489400"/>
              <a:ext cx="71280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19;p3"/>
            <p:cNvSpPr/>
            <p:nvPr/>
          </p:nvSpPr>
          <p:spPr>
            <a:xfrm>
              <a:off x="360" y="2649960"/>
              <a:ext cx="71280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0;p3"/>
            <p:cNvSpPr/>
            <p:nvPr/>
          </p:nvSpPr>
          <p:spPr>
            <a:xfrm rot="10800000" flipH="1">
              <a:off x="360" y="860040"/>
              <a:ext cx="712800" cy="81648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1;p3"/>
            <p:cNvSpPr/>
            <p:nvPr/>
          </p:nvSpPr>
          <p:spPr>
            <a:xfrm rot="10800000" flipH="1">
              <a:off x="360" y="252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2;p3"/>
            <p:cNvSpPr/>
            <p:nvPr/>
          </p:nvSpPr>
          <p:spPr>
            <a:xfrm rot="10800000" flipH="1">
              <a:off x="360" y="1676880"/>
              <a:ext cx="712800" cy="81648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3" name="Google Shape;198;p22"/>
          <p:cNvGrpSpPr/>
          <p:nvPr/>
        </p:nvGrpSpPr>
        <p:grpSpPr>
          <a:xfrm>
            <a:off x="0" y="275040"/>
            <a:ext cx="9143640" cy="4868280"/>
            <a:chOff x="0" y="275040"/>
            <a:chExt cx="9143640" cy="4868280"/>
          </a:xfrm>
        </p:grpSpPr>
        <p:sp>
          <p:nvSpPr>
            <p:cNvPr id="24" name="Google Shape;199;p22"/>
            <p:cNvSpPr/>
            <p:nvPr/>
          </p:nvSpPr>
          <p:spPr>
            <a:xfrm>
              <a:off x="713160" y="275040"/>
              <a:ext cx="14497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5" name="Google Shape;200;p22"/>
            <p:cNvGrpSpPr/>
            <p:nvPr/>
          </p:nvGrpSpPr>
          <p:grpSpPr>
            <a:xfrm>
              <a:off x="0" y="4822560"/>
              <a:ext cx="9143640" cy="320760"/>
              <a:chOff x="0" y="4822560"/>
              <a:chExt cx="9143640" cy="320760"/>
            </a:xfrm>
          </p:grpSpPr>
          <p:sp>
            <p:nvSpPr>
              <p:cNvPr id="26" name="Google Shape;201;p22"/>
              <p:cNvSpPr/>
              <p:nvPr/>
            </p:nvSpPr>
            <p:spPr>
              <a:xfrm>
                <a:off x="0" y="4983120"/>
                <a:ext cx="9143640" cy="1602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202;p22"/>
              <p:cNvSpPr/>
              <p:nvPr/>
            </p:nvSpPr>
            <p:spPr>
              <a:xfrm>
                <a:off x="0" y="4822560"/>
                <a:ext cx="9143640" cy="1602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8" name="Google Shape;203;p22"/>
          <p:cNvGrpSpPr/>
          <p:nvPr/>
        </p:nvGrpSpPr>
        <p:grpSpPr>
          <a:xfrm>
            <a:off x="8431200" y="360"/>
            <a:ext cx="712800" cy="856800"/>
            <a:chOff x="8431200" y="360"/>
            <a:chExt cx="712800" cy="856800"/>
          </a:xfrm>
        </p:grpSpPr>
        <p:sp>
          <p:nvSpPr>
            <p:cNvPr id="29" name="Google Shape;204;p22"/>
            <p:cNvSpPr/>
            <p:nvPr/>
          </p:nvSpPr>
          <p:spPr>
            <a:xfrm rot="10800000" flipH="1">
              <a:off x="8787600" y="360"/>
              <a:ext cx="3564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205;p22"/>
            <p:cNvSpPr/>
            <p:nvPr/>
          </p:nvSpPr>
          <p:spPr>
            <a:xfrm rot="10800000" flipH="1">
              <a:off x="8431200" y="360"/>
              <a:ext cx="3564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13160" y="738000"/>
            <a:ext cx="4644720" cy="134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479920" y="539640"/>
            <a:ext cx="2950560" cy="4064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4" name="Google Shape;256;p28"/>
          <p:cNvGrpSpPr/>
          <p:nvPr/>
        </p:nvGrpSpPr>
        <p:grpSpPr>
          <a:xfrm>
            <a:off x="7717680" y="3429360"/>
            <a:ext cx="1425960" cy="1713960"/>
            <a:chOff x="7717680" y="3429360"/>
            <a:chExt cx="1425960" cy="1713960"/>
          </a:xfrm>
        </p:grpSpPr>
        <p:sp>
          <p:nvSpPr>
            <p:cNvPr id="35" name="Google Shape;257;p28"/>
            <p:cNvSpPr/>
            <p:nvPr/>
          </p:nvSpPr>
          <p:spPr>
            <a:xfrm>
              <a:off x="8430840" y="4286520"/>
              <a:ext cx="7128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58;p28"/>
            <p:cNvSpPr/>
            <p:nvPr/>
          </p:nvSpPr>
          <p:spPr>
            <a:xfrm>
              <a:off x="8430840" y="3429360"/>
              <a:ext cx="7128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259;p28"/>
            <p:cNvSpPr/>
            <p:nvPr/>
          </p:nvSpPr>
          <p:spPr>
            <a:xfrm>
              <a:off x="7717680" y="4286520"/>
              <a:ext cx="712800" cy="8568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8" name="Google Shape;260;p28"/>
          <p:cNvSpPr/>
          <p:nvPr/>
        </p:nvSpPr>
        <p:spPr>
          <a:xfrm>
            <a:off x="713160" y="5396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253760" y="769320"/>
            <a:ext cx="36835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Google Shape;264;p29"/>
          <p:cNvSpPr/>
          <p:nvPr/>
        </p:nvSpPr>
        <p:spPr>
          <a:xfrm>
            <a:off x="4253760" y="3320280"/>
            <a:ext cx="3683520" cy="7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aleway"/>
                <a:ea typeface="Raleway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292;p35"/>
          <p:cNvGrpSpPr/>
          <p:nvPr/>
        </p:nvGrpSpPr>
        <p:grpSpPr>
          <a:xfrm>
            <a:off x="5846877" y="4860"/>
            <a:ext cx="100800" cy="5138640"/>
            <a:chOff x="9043560" y="2520"/>
            <a:chExt cx="100800" cy="5138640"/>
          </a:xfrm>
        </p:grpSpPr>
        <p:grpSp>
          <p:nvGrpSpPr>
            <p:cNvPr id="42" name="Google Shape;293;p35"/>
            <p:cNvGrpSpPr/>
            <p:nvPr/>
          </p:nvGrpSpPr>
          <p:grpSpPr>
            <a:xfrm>
              <a:off x="9043560" y="2520"/>
              <a:ext cx="100800" cy="5138640"/>
              <a:chOff x="9043560" y="2520"/>
              <a:chExt cx="100800" cy="5138640"/>
            </a:xfrm>
          </p:grpSpPr>
          <p:sp>
            <p:nvSpPr>
              <p:cNvPr id="43" name="Google Shape;294;p35"/>
              <p:cNvSpPr/>
              <p:nvPr/>
            </p:nvSpPr>
            <p:spPr>
              <a:xfrm>
                <a:off x="9043560" y="346716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4" name="Google Shape;295;p35"/>
              <p:cNvSpPr/>
              <p:nvPr/>
            </p:nvSpPr>
            <p:spPr>
              <a:xfrm>
                <a:off x="9043560" y="428436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" name="Google Shape;296;p35"/>
              <p:cNvSpPr/>
              <p:nvPr/>
            </p:nvSpPr>
            <p:spPr>
              <a:xfrm>
                <a:off x="9043560" y="264996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297;p35"/>
              <p:cNvSpPr/>
              <p:nvPr/>
            </p:nvSpPr>
            <p:spPr>
              <a:xfrm rot="10800000" flipH="1">
                <a:off x="9044280" y="86004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298;p35"/>
              <p:cNvSpPr/>
              <p:nvPr/>
            </p:nvSpPr>
            <p:spPr>
              <a:xfrm rot="10800000" flipH="1">
                <a:off x="9044280" y="252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299;p35"/>
              <p:cNvSpPr/>
              <p:nvPr/>
            </p:nvSpPr>
            <p:spPr>
              <a:xfrm rot="10800000" flipH="1">
                <a:off x="9044280" y="167688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9" name="Google Shape;300;p35"/>
            <p:cNvSpPr/>
            <p:nvPr/>
          </p:nvSpPr>
          <p:spPr>
            <a:xfrm>
              <a:off x="9043560" y="2493720"/>
              <a:ext cx="1000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800" b="0" u="none" strike="noStrik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82498" y="953641"/>
            <a:ext cx="6943493" cy="6198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800" b="1" dirty="0">
                <a:solidFill>
                  <a:schemeClr val="dk1"/>
                </a:solidFill>
              </a:rPr>
              <a:t>Sales Analytics&amp; Inventory Optimization System</a:t>
            </a:r>
            <a:endParaRPr lang="fr-FR" sz="1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345501" y="3905280"/>
            <a:ext cx="6550300" cy="4667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Raleway Medium"/>
                <a:cs typeface="Times New Roman" panose="02020603050405020304" pitchFamily="18" charset="0"/>
              </a:rPr>
              <a:t>Sales analytics &amp; inventory optimization using </a:t>
            </a:r>
            <a:r>
              <a:rPr lang="en-US" sz="1400" u="none" strike="noStrike" dirty="0" err="1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Raleway Medium"/>
                <a:cs typeface="Times New Roman" panose="02020603050405020304" pitchFamily="18" charset="0"/>
              </a:rPr>
              <a:t>Scilab</a:t>
            </a:r>
            <a:endParaRPr lang="en-US" sz="140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Google Shape;303;p35"/>
          <p:cNvSpPr/>
          <p:nvPr/>
        </p:nvSpPr>
        <p:spPr>
          <a:xfrm>
            <a:off x="345500" y="705260"/>
            <a:ext cx="1447560" cy="471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60" rIns="870823080" bIns="23760" anchor="ctr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745ECAD1-C5CD-707D-02F5-F459041FDEF9}"/>
              </a:ext>
            </a:extLst>
          </p:cNvPr>
          <p:cNvSpPr txBox="1">
            <a:spLocks/>
          </p:cNvSpPr>
          <p:nvPr/>
        </p:nvSpPr>
        <p:spPr>
          <a:xfrm>
            <a:off x="230459" y="1573484"/>
            <a:ext cx="7162800" cy="182880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 Yadav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202410101150212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47,48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Name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and Architecture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Summited To: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Akhilesh Kumar Gupta</a:t>
            </a:r>
            <a:endParaRPr lang="fr-FR" sz="13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oogle Shape;336;p38">
            <a:extLst>
              <a:ext uri="{FF2B5EF4-FFF2-40B4-BE49-F238E27FC236}">
                <a16:creationId xmlns:a16="http://schemas.microsoft.com/office/drawing/2014/main" id="{50A537ED-0533-9535-E7F1-9DE56FEDA46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088566" y="0"/>
            <a:ext cx="3055434" cy="51435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077950" y="780730"/>
            <a:ext cx="1873405" cy="4308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Times New Roman" panose="02020603050405020304" pitchFamily="18" charset="0"/>
                <a:ea typeface="Raleway ExtraBold"/>
                <a:cs typeface="Times New Roman" panose="02020603050405020304" pitchFamily="18" charset="0"/>
              </a:rPr>
              <a:t>Introduction</a:t>
            </a:r>
            <a:endParaRPr lang="fr-FR" sz="1600" b="0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ubTitle"/>
          </p:nvPr>
        </p:nvSpPr>
        <p:spPr>
          <a:xfrm>
            <a:off x="282498" y="1271239"/>
            <a:ext cx="5189034" cy="361299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modern business, companies generate large amounts of sales data every day. This data can be used to improve business decisions, increase profit, and maintain proper inventory levels.</a:t>
            </a:r>
          </a:p>
          <a:p>
            <a:pPr>
              <a:lnSpc>
                <a:spcPct val="200000"/>
              </a:lnSpc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Scilab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the given sales CSV file and optimize inventory management using mathematical calculations and graphs.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55" name="Google Shape;336;p38"/>
          <p:cNvPicPr/>
          <p:nvPr/>
        </p:nvPicPr>
        <p:blipFill>
          <a:blip r:embed="rId2"/>
          <a:stretch/>
        </p:blipFill>
        <p:spPr>
          <a:xfrm>
            <a:off x="5821094" y="996175"/>
            <a:ext cx="2691162" cy="34290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>
            <a:extLst>
              <a:ext uri="{FF2B5EF4-FFF2-40B4-BE49-F238E27FC236}">
                <a16:creationId xmlns:a16="http://schemas.microsoft.com/office/drawing/2014/main" id="{513206C5-E560-DE9C-B267-C6A9997D1105}"/>
              </a:ext>
            </a:extLst>
          </p:cNvPr>
          <p:cNvSpPr txBox="1">
            <a:spLocks/>
          </p:cNvSpPr>
          <p:nvPr/>
        </p:nvSpPr>
        <p:spPr>
          <a:xfrm>
            <a:off x="338095" y="780731"/>
            <a:ext cx="587297" cy="430887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01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84662" y="202087"/>
            <a:ext cx="5649951" cy="9292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275063" y="1159727"/>
            <a:ext cx="7456450" cy="376911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used in this project is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Sales.csv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Details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Orders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14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Fields Used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Sold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Price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Cost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 </a:t>
            </a:r>
          </a:p>
          <a:p>
            <a:pPr marL="285750" indent="-285750"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Fields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</a:t>
            </a:r>
          </a:p>
          <a:p>
            <a:pPr marL="171450" indent="-1714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Priority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F00F63DE-4B15-EF83-17C3-272DA05BB351}"/>
              </a:ext>
            </a:extLst>
          </p:cNvPr>
          <p:cNvSpPr txBox="1">
            <a:spLocks/>
          </p:cNvSpPr>
          <p:nvPr/>
        </p:nvSpPr>
        <p:spPr>
          <a:xfrm>
            <a:off x="364273" y="684377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02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3" name="image69edea4e82526" descr="image69edea4e82529">
            <a:extLst>
              <a:ext uri="{FF2B5EF4-FFF2-40B4-BE49-F238E27FC236}">
                <a16:creationId xmlns:a16="http://schemas.microsoft.com/office/drawing/2014/main" id="{4E5E267A-BE4A-5F62-7276-6CC1D5FCD90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705814" y="825189"/>
            <a:ext cx="3122342" cy="3983593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/>
          <p:cNvSpPr/>
          <p:nvPr/>
        </p:nvSpPr>
        <p:spPr>
          <a:xfrm>
            <a:off x="884662" y="691722"/>
            <a:ext cx="3627866" cy="4219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Business Problems</a:t>
            </a:r>
          </a:p>
          <a:p>
            <a:pPr>
              <a:tabLst>
                <a:tab pos="0" algn="l"/>
              </a:tabLst>
            </a:pP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97365" y="1219201"/>
            <a:ext cx="8369995" cy="3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companies face operational challenges such 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products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shortages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sales reporting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forecasting methods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decision-making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analyzing profit trends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solves these problems using automated analytics.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A43F66C7-C5E3-CD24-AB73-88CD7346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839" y="624049"/>
            <a:ext cx="527823" cy="430887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Raleway Medium"/>
                <a:ea typeface="Raleway ExtraBold"/>
              </a:rPr>
              <a:t>0</a:t>
            </a: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3</a:t>
            </a:r>
            <a:endParaRPr lang="fr-FR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Google Shape;336;p38">
            <a:extLst>
              <a:ext uri="{FF2B5EF4-FFF2-40B4-BE49-F238E27FC236}">
                <a16:creationId xmlns:a16="http://schemas.microsoft.com/office/drawing/2014/main" id="{D907AB0F-2C30-AF34-E462-A46BA439387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836601" y="603001"/>
            <a:ext cx="2950560" cy="4064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84662" y="539640"/>
            <a:ext cx="4477538" cy="5917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ubTitle"/>
          </p:nvPr>
        </p:nvSpPr>
        <p:spPr>
          <a:xfrm>
            <a:off x="364273" y="1286107"/>
            <a:ext cx="4997928" cy="345687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this project are: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total sales performance Compare revenue, cost, and profit Visualize data using graphs Identify business trends Calculate reorder level Improve inventory efficiency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336;p38"/>
          <p:cNvPicPr/>
          <p:nvPr/>
        </p:nvPicPr>
        <p:blipFill>
          <a:blip r:embed="rId2"/>
          <a:stretch/>
        </p:blipFill>
        <p:spPr>
          <a:xfrm>
            <a:off x="5479920" y="539640"/>
            <a:ext cx="2950560" cy="406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>
            <a:extLst>
              <a:ext uri="{FF2B5EF4-FFF2-40B4-BE49-F238E27FC236}">
                <a16:creationId xmlns:a16="http://schemas.microsoft.com/office/drawing/2014/main" id="{1F7E6448-FFCB-1D28-40CE-5AFEC9D1BE0F}"/>
              </a:ext>
            </a:extLst>
          </p:cNvPr>
          <p:cNvSpPr txBox="1">
            <a:spLocks/>
          </p:cNvSpPr>
          <p:nvPr/>
        </p:nvSpPr>
        <p:spPr>
          <a:xfrm>
            <a:off x="364273" y="684377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04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4817330" y="638406"/>
            <a:ext cx="2185636" cy="3740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296940" y="1115123"/>
            <a:ext cx="4370421" cy="33899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Scilab</a:t>
            </a: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CSV Dataset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Dashboard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Optimization Formula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  <a:tabLst>
                <a:tab pos="0" algn="l"/>
              </a:tabLst>
            </a:pPr>
            <a:r>
              <a:rPr lang="en-US" sz="1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 Graphs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Report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Reorder Recommendation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" name="image69edea4e82526" descr="image69edea4e82529"/>
          <p:cNvPicPr/>
          <p:nvPr/>
        </p:nvPicPr>
        <p:blipFill>
          <a:blip r:embed="rId2"/>
          <a:stretch/>
        </p:blipFill>
        <p:spPr>
          <a:xfrm>
            <a:off x="0" y="0"/>
            <a:ext cx="4095722" cy="48321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>
            <a:extLst>
              <a:ext uri="{FF2B5EF4-FFF2-40B4-BE49-F238E27FC236}">
                <a16:creationId xmlns:a16="http://schemas.microsoft.com/office/drawing/2014/main" id="{D985846F-2F7F-CA5D-33ED-8B44FD5EC0B6}"/>
              </a:ext>
            </a:extLst>
          </p:cNvPr>
          <p:cNvSpPr txBox="1">
            <a:spLocks/>
          </p:cNvSpPr>
          <p:nvPr/>
        </p:nvSpPr>
        <p:spPr>
          <a:xfrm>
            <a:off x="4296940" y="565431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05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A6D4-E0F5-88E0-8B71-A5FAAE10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>
            <a:extLst>
              <a:ext uri="{FF2B5EF4-FFF2-40B4-BE49-F238E27FC236}">
                <a16:creationId xmlns:a16="http://schemas.microsoft.com/office/drawing/2014/main" id="{F6F3DDF9-87F9-3D91-3C7B-B1445D90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62" y="539640"/>
            <a:ext cx="4477538" cy="5917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PlaceHolder 2">
            <a:extLst>
              <a:ext uri="{FF2B5EF4-FFF2-40B4-BE49-F238E27FC236}">
                <a16:creationId xmlns:a16="http://schemas.microsoft.com/office/drawing/2014/main" id="{36872A2B-22BA-3323-DAB0-BA2CFA5C735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4273" y="1286106"/>
            <a:ext cx="4997928" cy="374681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Sales.csv File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in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Scilab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Required Columns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Calculations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Dashboard Graphs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Reorder Level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336;p38">
            <a:extLst>
              <a:ext uri="{FF2B5EF4-FFF2-40B4-BE49-F238E27FC236}">
                <a16:creationId xmlns:a16="http://schemas.microsoft.com/office/drawing/2014/main" id="{C38D1452-39E1-0F56-EB85-CA2E1DDB4DC4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02222" y="539640"/>
            <a:ext cx="2950560" cy="406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>
            <a:extLst>
              <a:ext uri="{FF2B5EF4-FFF2-40B4-BE49-F238E27FC236}">
                <a16:creationId xmlns:a16="http://schemas.microsoft.com/office/drawing/2014/main" id="{12CD5A78-0480-5D57-1F52-536373202098}"/>
              </a:ext>
            </a:extLst>
          </p:cNvPr>
          <p:cNvSpPr txBox="1">
            <a:spLocks/>
          </p:cNvSpPr>
          <p:nvPr/>
        </p:nvSpPr>
        <p:spPr>
          <a:xfrm>
            <a:off x="364273" y="684377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06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5554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2A58-EBEC-ABBF-D28A-A935B164A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268D22B2-4900-8BAF-569D-FF26C1CB5D09}"/>
              </a:ext>
            </a:extLst>
          </p:cNvPr>
          <p:cNvSpPr/>
          <p:nvPr/>
        </p:nvSpPr>
        <p:spPr>
          <a:xfrm>
            <a:off x="825189" y="579864"/>
            <a:ext cx="3687339" cy="5338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Reports Generated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FAC88A8-E193-A440-8BCD-C2374F48B94F}"/>
              </a:ext>
            </a:extLst>
          </p:cNvPr>
          <p:cNvSpPr/>
          <p:nvPr/>
        </p:nvSpPr>
        <p:spPr>
          <a:xfrm>
            <a:off x="237894" y="907165"/>
            <a:ext cx="1702418" cy="38060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Trend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 Trend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Trend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 Sold Analysis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 Distribution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Cumulative Profit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vs Cost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 Sold vs Profit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KPI Summary 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A08F8C74-74EB-0772-6305-446BC2EDB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366" y="476278"/>
            <a:ext cx="527823" cy="430887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lt1"/>
                </a:solidFill>
                <a:effectLst/>
                <a:uFillTx/>
                <a:latin typeface="Raleway Medium"/>
                <a:ea typeface="Raleway ExtraBold"/>
              </a:rPr>
              <a:t>07</a:t>
            </a:r>
            <a:endParaRPr lang="fr-FR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E55556-A232-EF61-74DF-497D97F07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288" y="907164"/>
            <a:ext cx="7426712" cy="408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58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C6ED0-296E-C47E-AFE4-CA5CCBB8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52ADF8E0-2C81-DEA0-4CEE-5CF02E2A46EE}"/>
              </a:ext>
            </a:extLst>
          </p:cNvPr>
          <p:cNvSpPr/>
          <p:nvPr/>
        </p:nvSpPr>
        <p:spPr>
          <a:xfrm>
            <a:off x="4817329" y="638405"/>
            <a:ext cx="3055432" cy="446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Generated by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Scilab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A687866-11B6-3D1E-4029-159C1CCA567D}"/>
              </a:ext>
            </a:extLst>
          </p:cNvPr>
          <p:cNvSpPr/>
          <p:nvPr/>
        </p:nvSpPr>
        <p:spPr>
          <a:xfrm>
            <a:off x="4296940" y="1115123"/>
            <a:ext cx="4296933" cy="17693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Processed: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Orders Successfully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Results:</a:t>
            </a:r>
          </a:p>
        </p:txBody>
      </p:sp>
      <p:pic>
        <p:nvPicPr>
          <p:cNvPr id="72" name="image69edea4e82526" descr="image69edea4e82529">
            <a:extLst>
              <a:ext uri="{FF2B5EF4-FFF2-40B4-BE49-F238E27FC236}">
                <a16:creationId xmlns:a16="http://schemas.microsoft.com/office/drawing/2014/main" id="{7AAAB8F1-7A9A-A39F-5232-F4F643AB0B5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4095722" cy="48321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>
            <a:extLst>
              <a:ext uri="{FF2B5EF4-FFF2-40B4-BE49-F238E27FC236}">
                <a16:creationId xmlns:a16="http://schemas.microsoft.com/office/drawing/2014/main" id="{FE2D69DB-DA60-9E83-116E-E657E11297B8}"/>
              </a:ext>
            </a:extLst>
          </p:cNvPr>
          <p:cNvSpPr txBox="1">
            <a:spLocks/>
          </p:cNvSpPr>
          <p:nvPr/>
        </p:nvSpPr>
        <p:spPr>
          <a:xfrm>
            <a:off x="4296940" y="565431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08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C3F41-F583-E3F3-4EEF-85357F5C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940" y="2056102"/>
            <a:ext cx="4647627" cy="231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3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AFC60-57C1-A8B5-EB12-0AC277FC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>
            <a:extLst>
              <a:ext uri="{FF2B5EF4-FFF2-40B4-BE49-F238E27FC236}">
                <a16:creationId xmlns:a16="http://schemas.microsoft.com/office/drawing/2014/main" id="{D4297B49-EFBB-8621-C431-E36615BE8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662" y="539640"/>
            <a:ext cx="4477538" cy="59171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Level Calculation</a:t>
            </a:r>
            <a:endParaRPr lang="fr-FR" sz="1600" b="1" u="none" strike="noStrike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PlaceHolder 2">
            <a:extLst>
              <a:ext uri="{FF2B5EF4-FFF2-40B4-BE49-F238E27FC236}">
                <a16:creationId xmlns:a16="http://schemas.microsoft.com/office/drawing/2014/main" id="{F60CF977-C254-A2FA-8D02-8FAA69DB6A1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82498" y="1276092"/>
            <a:ext cx="5079703" cy="37568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Used: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Level = Daily Demand × Lead Time + Safety Stock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Result: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Time: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Days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Stock: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Units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Reorder Level: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stockouts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overstocking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warehouse planning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" name="Google Shape;336;p38">
            <a:extLst>
              <a:ext uri="{FF2B5EF4-FFF2-40B4-BE49-F238E27FC236}">
                <a16:creationId xmlns:a16="http://schemas.microsoft.com/office/drawing/2014/main" id="{D06F236F-FF29-D8E6-6632-CC9C751CEB0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79920" y="539640"/>
            <a:ext cx="2950560" cy="406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>
            <a:extLst>
              <a:ext uri="{FF2B5EF4-FFF2-40B4-BE49-F238E27FC236}">
                <a16:creationId xmlns:a16="http://schemas.microsoft.com/office/drawing/2014/main" id="{4A8AAEC5-3AE0-0BC0-19E8-2942FB3C5021}"/>
              </a:ext>
            </a:extLst>
          </p:cNvPr>
          <p:cNvSpPr txBox="1">
            <a:spLocks/>
          </p:cNvSpPr>
          <p:nvPr/>
        </p:nvSpPr>
        <p:spPr>
          <a:xfrm>
            <a:off x="364273" y="684377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09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702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5B2D8-D99C-3AEA-D11C-5B9CDEA0F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967A0694-E5C4-8BFA-41D5-CC53040ABDFB}"/>
              </a:ext>
            </a:extLst>
          </p:cNvPr>
          <p:cNvSpPr/>
          <p:nvPr/>
        </p:nvSpPr>
        <p:spPr>
          <a:xfrm>
            <a:off x="4817329" y="638405"/>
            <a:ext cx="3055432" cy="4469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600" b="1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404AB12-6E91-6DBE-7CF5-E8FC8981B42F}"/>
              </a:ext>
            </a:extLst>
          </p:cNvPr>
          <p:cNvSpPr/>
          <p:nvPr/>
        </p:nvSpPr>
        <p:spPr>
          <a:xfrm>
            <a:off x="4296940" y="1115122"/>
            <a:ext cx="4296933" cy="32784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Sales Analytics &amp; Inventory Optimization System successfully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sales dataset using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Scilab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Outcomes: 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evaluated 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Revenue, cost, and profit compared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 dashboard generated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reorder level calculated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Better business decisions supported 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q"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demand forecasting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dashboard</a:t>
            </a:r>
          </a:p>
          <a:p>
            <a:pPr marL="171450" indent="-17145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alertsCloud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</a:p>
        </p:txBody>
      </p:sp>
      <p:pic>
        <p:nvPicPr>
          <p:cNvPr id="72" name="image69edea4e82526" descr="image69edea4e82529">
            <a:extLst>
              <a:ext uri="{FF2B5EF4-FFF2-40B4-BE49-F238E27FC236}">
                <a16:creationId xmlns:a16="http://schemas.microsoft.com/office/drawing/2014/main" id="{DCB73AB1-315B-086E-689C-D7C8070AA9C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0" y="0"/>
            <a:ext cx="4095722" cy="48321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>
            <a:extLst>
              <a:ext uri="{FF2B5EF4-FFF2-40B4-BE49-F238E27FC236}">
                <a16:creationId xmlns:a16="http://schemas.microsoft.com/office/drawing/2014/main" id="{93AB014B-BB1A-F517-88C6-64429D61D36E}"/>
              </a:ext>
            </a:extLst>
          </p:cNvPr>
          <p:cNvSpPr txBox="1">
            <a:spLocks/>
          </p:cNvSpPr>
          <p:nvPr/>
        </p:nvSpPr>
        <p:spPr>
          <a:xfrm>
            <a:off x="4296940" y="565431"/>
            <a:ext cx="520389" cy="446978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wrap="square" lIns="91440" tIns="91440" rIns="91440" bIns="9144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600" dirty="0">
                <a:solidFill>
                  <a:schemeClr val="lt1"/>
                </a:solidFill>
                <a:latin typeface="Raleway Medium"/>
                <a:ea typeface="Raleway ExtraBold"/>
              </a:rPr>
              <a:t>08</a:t>
            </a:r>
            <a:endParaRPr lang="fr-FR" sz="1600" dirty="0">
              <a:solidFill>
                <a:schemeClr val="dk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7473383"/>
      </p:ext>
    </p:extLst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441</Words>
  <Application>Microsoft Office PowerPoint</Application>
  <PresentationFormat>On-screen Show (16:9)</PresentationFormat>
  <Paragraphs>118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Wingdings</vt:lpstr>
      <vt:lpstr>Raleway ExtraBold</vt:lpstr>
      <vt:lpstr>Raleway Medium</vt:lpstr>
      <vt:lpstr>Arial</vt:lpstr>
      <vt:lpstr>Raleway</vt:lpstr>
      <vt:lpstr>Open Sans</vt:lpstr>
      <vt:lpstr>OpenSymbol</vt:lpstr>
      <vt:lpstr>Times New Roman</vt:lpstr>
      <vt:lpstr>Symbol</vt:lpstr>
      <vt:lpstr>-</vt:lpstr>
      <vt:lpstr>Sales Analytics&amp; Inventory Optimization System</vt:lpstr>
      <vt:lpstr>Introduction</vt:lpstr>
      <vt:lpstr>Dataset Overview</vt:lpstr>
      <vt:lpstr>03</vt:lpstr>
      <vt:lpstr>Project Objectives</vt:lpstr>
      <vt:lpstr>PowerPoint Presentation</vt:lpstr>
      <vt:lpstr>Working Process</vt:lpstr>
      <vt:lpstr>07</vt:lpstr>
      <vt:lpstr>PowerPoint Presentation</vt:lpstr>
      <vt:lpstr>Reorder Level Calculation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Prince Yadav</cp:lastModifiedBy>
  <cp:revision>9</cp:revision>
  <dcterms:modified xsi:type="dcterms:W3CDTF">2026-04-27T18:21:18Z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2026-04-26T10:34:53Z</dcterms:created>
  <dc:creator>Unknown Creator</dc:creator>
  <dc:description/>
  <dc:language>en-US</dc:language>
  <cp:lastModifiedBy>Unknown Creator</cp:lastModifiedBy>
  <dcterms:modified xsi:type="dcterms:W3CDTF">2026-04-26T10:34:53Z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